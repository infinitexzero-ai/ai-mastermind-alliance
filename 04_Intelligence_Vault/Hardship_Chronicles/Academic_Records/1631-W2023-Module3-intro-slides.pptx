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15"/>
  </p:notesMasterIdLst>
  <p:sldIdLst>
    <p:sldId id="270" r:id="rId2"/>
    <p:sldId id="263" r:id="rId3"/>
    <p:sldId id="262" r:id="rId4"/>
    <p:sldId id="267" r:id="rId5"/>
    <p:sldId id="268" r:id="rId6"/>
    <p:sldId id="259" r:id="rId7"/>
    <p:sldId id="257" r:id="rId8"/>
    <p:sldId id="269" r:id="rId9"/>
    <p:sldId id="258" r:id="rId10"/>
    <p:sldId id="266" r:id="rId11"/>
    <p:sldId id="260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356AA3-6585-3059-B07C-0A5258BF84FE}" v="4" dt="2023-02-09T18:38:30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 Clevinger" userId="S::aclevinger@mta.ca::67fab333-f50c-4e46-bc20-fe49066ec854" providerId="AD" clId="Web-{70356AA3-6585-3059-B07C-0A5258BF84FE}"/>
    <pc:docChg chg="modSld">
      <pc:chgData name="Ada Clevinger" userId="S::aclevinger@mta.ca::67fab333-f50c-4e46-bc20-fe49066ec854" providerId="AD" clId="Web-{70356AA3-6585-3059-B07C-0A5258BF84FE}" dt="2023-02-09T18:38:30.586" v="6" actId="20577"/>
      <pc:docMkLst>
        <pc:docMk/>
      </pc:docMkLst>
      <pc:sldChg chg="modSp">
        <pc:chgData name="Ada Clevinger" userId="S::aclevinger@mta.ca::67fab333-f50c-4e46-bc20-fe49066ec854" providerId="AD" clId="Web-{70356AA3-6585-3059-B07C-0A5258BF84FE}" dt="2023-02-09T18:38:30.586" v="6" actId="20577"/>
        <pc:sldMkLst>
          <pc:docMk/>
          <pc:sldMk cId="374641924" sldId="260"/>
        </pc:sldMkLst>
        <pc:spChg chg="mod">
          <ac:chgData name="Ada Clevinger" userId="S::aclevinger@mta.ca::67fab333-f50c-4e46-bc20-fe49066ec854" providerId="AD" clId="Web-{70356AA3-6585-3059-B07C-0A5258BF84FE}" dt="2023-02-09T18:38:30.586" v="6" actId="20577"/>
          <ac:spMkLst>
            <pc:docMk/>
            <pc:sldMk cId="374641924" sldId="260"/>
            <ac:spMk id="3" creationId="{7DE13FC2-6281-A44B-BCF6-B2C2642B18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33CFA-3618-9441-A3F0-C1210B7251E4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FDB05-6DD8-0F4F-BD83-BEDDC15F2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2/9/2023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537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86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6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7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1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46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73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2/9/2023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7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4776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79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3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71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21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1703AD-D8AE-4197-8ABA-2F8179F2CC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82" r="-2" b="20697"/>
          <a:stretch/>
        </p:blipFill>
        <p:spPr>
          <a:xfrm>
            <a:off x="-1864" y="10"/>
            <a:ext cx="6591299" cy="3355932"/>
          </a:xfrm>
          <a:prstGeom prst="rect">
            <a:avLst/>
          </a:prstGeom>
        </p:spPr>
      </p:pic>
      <p:pic>
        <p:nvPicPr>
          <p:cNvPr id="6" name="Picture 5" descr="A picture containing cat, sitting, domestic cat, mammal&#10;&#10;Description automatically generated">
            <a:extLst>
              <a:ext uri="{FF2B5EF4-FFF2-40B4-BE49-F238E27FC236}">
                <a16:creationId xmlns:a16="http://schemas.microsoft.com/office/drawing/2014/main" id="{F3BD0B07-83EC-A51D-42D7-9686772A37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49" r="-1" b="9730"/>
          <a:stretch/>
        </p:blipFill>
        <p:spPr>
          <a:xfrm>
            <a:off x="-2" y="3509434"/>
            <a:ext cx="6591300" cy="3348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B88369-3DFD-0C44-86D3-C59B7754B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4638" y="1600200"/>
            <a:ext cx="3238501" cy="3054847"/>
          </a:xfrm>
        </p:spPr>
        <p:txBody>
          <a:bodyPr>
            <a:normAutofit/>
          </a:bodyPr>
          <a:lstStyle/>
          <a:p>
            <a:r>
              <a:rPr lang="en-US" sz="4800"/>
              <a:t>Strings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5A6DA-4C73-6046-90F9-C9872A1B3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4638" y="4746488"/>
            <a:ext cx="3238500" cy="102185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COMP 1631</a:t>
            </a:r>
          </a:p>
        </p:txBody>
      </p:sp>
    </p:spTree>
    <p:extLst>
      <p:ext uri="{BB962C8B-B14F-4D97-AF65-F5344CB8AC3E}">
        <p14:creationId xmlns:p14="http://schemas.microsoft.com/office/powerpoint/2010/main" val="1860080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4947-A652-4C41-A3B8-07643584B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3"/>
            <a:ext cx="10058400" cy="2545748"/>
          </a:xfrm>
        </p:spPr>
        <p:txBody>
          <a:bodyPr>
            <a:noAutofit/>
          </a:bodyPr>
          <a:lstStyle/>
          <a:p>
            <a:r>
              <a:rPr lang="en-US" dirty="0"/>
              <a:t>Introduction to Strings (</a:t>
            </a:r>
            <a:r>
              <a:rPr lang="en-US" i="1" dirty="0"/>
              <a:t>as a data type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- a </a:t>
            </a:r>
            <a:r>
              <a:rPr lang="en-US" sz="2800" i="1" dirty="0"/>
              <a:t>string</a:t>
            </a:r>
            <a:r>
              <a:rPr lang="en-US" sz="2800" dirty="0"/>
              <a:t> is a sequence of characters</a:t>
            </a:r>
            <a:br>
              <a:rPr lang="en-US" sz="2800" dirty="0"/>
            </a:br>
            <a:r>
              <a:rPr lang="en-US" sz="2800" dirty="0"/>
              <a:t>- the </a:t>
            </a:r>
            <a:r>
              <a:rPr lang="en-US" sz="2800" i="1" dirty="0"/>
              <a:t>positions</a:t>
            </a:r>
            <a:r>
              <a:rPr lang="en-US" sz="2800" dirty="0"/>
              <a:t> (or </a:t>
            </a:r>
            <a:r>
              <a:rPr lang="en-US" sz="2800" i="1" dirty="0"/>
              <a:t>indexes</a:t>
            </a:r>
            <a:r>
              <a:rPr lang="en-US" sz="2800" dirty="0"/>
              <a:t>) start on the left at 0</a:t>
            </a:r>
            <a:br>
              <a:rPr lang="en-US" sz="2800" dirty="0"/>
            </a:br>
            <a:r>
              <a:rPr lang="en-US" sz="2800" dirty="0"/>
              <a:t>- the </a:t>
            </a:r>
            <a:r>
              <a:rPr lang="en-US" sz="2800" i="1" dirty="0"/>
              <a:t>length</a:t>
            </a:r>
            <a:r>
              <a:rPr lang="en-US" sz="2800" dirty="0"/>
              <a:t> is the number of characters in the string</a:t>
            </a:r>
            <a:br>
              <a:rPr lang="en-US" sz="2800" dirty="0"/>
            </a:br>
            <a:r>
              <a:rPr lang="en-US" sz="2800" dirty="0"/>
              <a:t>- use the </a:t>
            </a:r>
            <a:r>
              <a:rPr lang="en-US" sz="2800" dirty="0" err="1"/>
              <a:t>len</a:t>
            </a:r>
            <a:r>
              <a:rPr lang="en-US" sz="2800" dirty="0"/>
              <a:t>() function to get the length of a string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4FD5D6DF-62BC-4016-9C1E-77597114591F}"/>
              </a:ext>
            </a:extLst>
          </p:cNvPr>
          <p:cNvSpPr txBox="1"/>
          <p:nvPr/>
        </p:nvSpPr>
        <p:spPr>
          <a:xfrm>
            <a:off x="1104528" y="3486511"/>
            <a:ext cx="10669909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 err="1">
                <a:latin typeface="Courier"/>
              </a:rPr>
              <a:t>my_string</a:t>
            </a:r>
            <a:r>
              <a:rPr lang="en-US" sz="4400" dirty="0">
                <a:latin typeface="Courier"/>
              </a:rPr>
              <a:t> = 'This is a string'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5D08AC0E-9E4A-459C-83E4-E3EF385FE01F}"/>
              </a:ext>
            </a:extLst>
          </p:cNvPr>
          <p:cNvSpPr txBox="1"/>
          <p:nvPr/>
        </p:nvSpPr>
        <p:spPr>
          <a:xfrm>
            <a:off x="5559679" y="4145128"/>
            <a:ext cx="546804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0    1   2    3    4   5   6    7   8    9  10  11  12  13 14  15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37D1891C-1D33-4BED-847F-5FDC82D3DFA4}"/>
              </a:ext>
            </a:extLst>
          </p:cNvPr>
          <p:cNvSpPr txBox="1"/>
          <p:nvPr/>
        </p:nvSpPr>
        <p:spPr>
          <a:xfrm>
            <a:off x="4003526" y="4709286"/>
            <a:ext cx="4237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What is the length of this string?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6038ECF4-7915-47EF-B401-044711AB7C4D}"/>
              </a:ext>
            </a:extLst>
          </p:cNvPr>
          <p:cNvSpPr txBox="1"/>
          <p:nvPr/>
        </p:nvSpPr>
        <p:spPr>
          <a:xfrm>
            <a:off x="5073741" y="5188784"/>
            <a:ext cx="1978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len</a:t>
            </a:r>
            <a:r>
              <a:rPr lang="en-US" sz="2400" dirty="0"/>
              <a:t>(</a:t>
            </a:r>
            <a:r>
              <a:rPr lang="en-US" sz="2400" dirty="0" err="1"/>
              <a:t>my_string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75616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40BB-B810-6043-856F-7C18FEC84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printed by the following statements?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6F1DC-6323-A640-852C-50B0FB69B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317120" lvl="8" indent="0">
              <a:buNone/>
            </a:pPr>
            <a:r>
              <a:rPr lang="en-CA" sz="3200" dirty="0" err="1">
                <a:latin typeface="Courier" pitchFamily="2" charset="0"/>
              </a:rPr>
              <a:t>stringRocks</a:t>
            </a:r>
            <a:r>
              <a:rPr lang="en-CA" sz="3200" dirty="0">
                <a:latin typeface="Courier" pitchFamily="2" charset="0"/>
              </a:rPr>
              <a:t> = 'Python rocks'</a:t>
            </a:r>
          </a:p>
          <a:p>
            <a:pPr marL="2317120" lvl="8" indent="0">
              <a:buNone/>
            </a:pPr>
            <a:r>
              <a:rPr lang="en-CA" sz="3200" dirty="0">
                <a:latin typeface="Courier" pitchFamily="2" charset="0"/>
              </a:rPr>
              <a:t>print(</a:t>
            </a:r>
            <a:r>
              <a:rPr lang="en-CA" sz="3200" dirty="0" err="1">
                <a:latin typeface="Courier" pitchFamily="2" charset="0"/>
              </a:rPr>
              <a:t>len</a:t>
            </a:r>
            <a:r>
              <a:rPr lang="en-CA" sz="3200" dirty="0">
                <a:latin typeface="Courier" pitchFamily="2" charset="0"/>
              </a:rPr>
              <a:t>(</a:t>
            </a:r>
            <a:r>
              <a:rPr lang="en-CA" sz="3200" dirty="0" err="1">
                <a:latin typeface="Courier" pitchFamily="2" charset="0"/>
              </a:rPr>
              <a:t>stringRocks</a:t>
            </a:r>
            <a:r>
              <a:rPr lang="en-CA" sz="3200" dirty="0">
                <a:latin typeface="Courier" pitchFamily="2" charset="0"/>
              </a:rPr>
              <a:t>))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sz="3200" dirty="0"/>
          </a:p>
          <a:p>
            <a:pPr marL="0" indent="0">
              <a:buNone/>
            </a:pPr>
            <a:r>
              <a:rPr lang="en-CA" sz="3200" dirty="0"/>
              <a:t>A. </a:t>
            </a:r>
            <a:r>
              <a:rPr lang="en-CA" sz="3200" dirty="0">
                <a:latin typeface="Courier" pitchFamily="2" charset="0"/>
              </a:rPr>
              <a:t>11</a:t>
            </a:r>
            <a:br>
              <a:rPr lang="en-CA" sz="3200" dirty="0"/>
            </a:br>
            <a:r>
              <a:rPr lang="en-CA" sz="3200" dirty="0"/>
              <a:t>B. </a:t>
            </a:r>
            <a:r>
              <a:rPr lang="en-CA" sz="3200" dirty="0">
                <a:latin typeface="Courier" pitchFamily="2" charset="0"/>
              </a:rPr>
              <a:t>12</a:t>
            </a:r>
            <a:br>
              <a:rPr lang="en-CA" sz="3200" dirty="0"/>
            </a:br>
            <a:r>
              <a:rPr lang="en-CA" sz="3200" dirty="0"/>
              <a:t>C. </a:t>
            </a:r>
            <a:r>
              <a:rPr lang="en-CA" sz="3200" dirty="0">
                <a:latin typeface="Courier" pitchFamily="2" charset="0"/>
              </a:rPr>
              <a:t>1</a:t>
            </a:r>
            <a:br>
              <a:rPr lang="en-CA" sz="3200" dirty="0"/>
            </a:br>
            <a:r>
              <a:rPr lang="en-CA" sz="3200" dirty="0"/>
              <a:t>D. Error, missing quotes around </a:t>
            </a:r>
            <a:r>
              <a:rPr lang="en-CA" sz="3200" dirty="0" err="1">
                <a:latin typeface="Courier" pitchFamily="2" charset="0"/>
              </a:rPr>
              <a:t>stringRocks</a:t>
            </a:r>
            <a:endParaRPr lang="en-US" sz="3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304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4947-A652-4C41-A3B8-07643584B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3"/>
            <a:ext cx="10058400" cy="1116633"/>
          </a:xfrm>
        </p:spPr>
        <p:txBody>
          <a:bodyPr>
            <a:noAutofit/>
          </a:bodyPr>
          <a:lstStyle/>
          <a:p>
            <a:r>
              <a:rPr lang="en-US" dirty="0"/>
              <a:t>The + Operator (string concatenation)</a:t>
            </a:r>
            <a:endParaRPr lang="en-US" sz="2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AE806BA-7C37-B76A-5C2F-F877D1391ABC}"/>
              </a:ext>
            </a:extLst>
          </p:cNvPr>
          <p:cNvSpPr txBox="1">
            <a:spLocks/>
          </p:cNvSpPr>
          <p:nvPr/>
        </p:nvSpPr>
        <p:spPr>
          <a:xfrm>
            <a:off x="1070115" y="1629879"/>
            <a:ext cx="10058400" cy="13916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dirty="0"/>
              <a:t>the </a:t>
            </a:r>
            <a:r>
              <a:rPr lang="en-US" sz="2800" b="1" dirty="0"/>
              <a:t>+</a:t>
            </a:r>
            <a:r>
              <a:rPr lang="en-US" sz="2800" dirty="0"/>
              <a:t> operator can be used to join two or more strings together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CBE7C24-6348-E32B-7B2B-253D5137F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275937"/>
            <a:ext cx="10058400" cy="2111071"/>
          </a:xfrm>
        </p:spPr>
        <p:txBody>
          <a:bodyPr>
            <a:noAutofit/>
          </a:bodyPr>
          <a:lstStyle/>
          <a:p>
            <a:pPr marL="0" lvl="7" indent="0">
              <a:buNone/>
            </a:pPr>
            <a:r>
              <a:rPr lang="en-CA" sz="3200" dirty="0">
                <a:latin typeface="Courier" pitchFamily="2" charset="0"/>
              </a:rPr>
              <a:t>phrase = 'Greed' + ' is ' + 'good'</a:t>
            </a:r>
          </a:p>
          <a:p>
            <a:pPr marL="0" lvl="7" indent="0">
              <a:buNone/>
            </a:pPr>
            <a:r>
              <a:rPr lang="en-CA" sz="3200" dirty="0">
                <a:latin typeface="Courier" pitchFamily="2" charset="0"/>
              </a:rPr>
              <a:t>print(phrase)</a:t>
            </a:r>
          </a:p>
          <a:p>
            <a:pPr marL="0" lvl="7" indent="0">
              <a:buNone/>
            </a:pPr>
            <a:r>
              <a:rPr lang="en-CA" sz="3200" dirty="0">
                <a:latin typeface="Courier" pitchFamily="2" charset="0"/>
              </a:rPr>
              <a:t>phrase = 'Greed' + ' </a:t>
            </a:r>
            <a:r>
              <a:rPr lang="en-CA" sz="3200" dirty="0" err="1">
                <a:latin typeface="Courier" pitchFamily="2" charset="0"/>
              </a:rPr>
              <a:t>isn</a:t>
            </a:r>
            <a:r>
              <a:rPr lang="en-CA" sz="3200">
                <a:latin typeface="Courier" pitchFamily="2" charset="0"/>
              </a:rPr>
              <a:t>\' t </a:t>
            </a:r>
            <a:r>
              <a:rPr lang="en-CA" sz="3200" dirty="0">
                <a:latin typeface="Courier" pitchFamily="2" charset="0"/>
              </a:rPr>
              <a:t>' + 'good'</a:t>
            </a:r>
          </a:p>
          <a:p>
            <a:pPr marL="0" lvl="7" indent="0">
              <a:buNone/>
            </a:pPr>
            <a:r>
              <a:rPr lang="en-CA" sz="3200" dirty="0">
                <a:latin typeface="Courier" pitchFamily="2" charset="0"/>
              </a:rPr>
              <a:t>print(phrase)</a:t>
            </a:r>
          </a:p>
          <a:p>
            <a:pPr marL="0" lvl="7" indent="0">
              <a:buNone/>
            </a:pPr>
            <a:endParaRPr lang="en-CA" sz="3200" dirty="0">
              <a:latin typeface="Courier" pitchFamily="2" charset="0"/>
            </a:endParaRPr>
          </a:p>
          <a:p>
            <a:pPr marL="0" lvl="7" indent="0">
              <a:buNone/>
            </a:pPr>
            <a:endParaRPr lang="en-US" sz="3400" dirty="0">
              <a:latin typeface="Courier" pitchFamily="2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DEA412-0029-4041-9C63-8FC2A30711E2}"/>
              </a:ext>
            </a:extLst>
          </p:cNvPr>
          <p:cNvSpPr txBox="1">
            <a:spLocks/>
          </p:cNvSpPr>
          <p:nvPr/>
        </p:nvSpPr>
        <p:spPr>
          <a:xfrm>
            <a:off x="1848683" y="5330542"/>
            <a:ext cx="9710527" cy="13916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(note the use of  </a:t>
            </a:r>
            <a:r>
              <a:rPr lang="en-CA" sz="2400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\'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 to get a quotation mark inside a string enclosed in single quotation marks)</a:t>
            </a:r>
          </a:p>
        </p:txBody>
      </p:sp>
    </p:spTree>
    <p:extLst>
      <p:ext uri="{BB962C8B-B14F-4D97-AF65-F5344CB8AC3E}">
        <p14:creationId xmlns:p14="http://schemas.microsoft.com/office/powerpoint/2010/main" val="4563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4947-A652-4C41-A3B8-07643584B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3"/>
            <a:ext cx="10058400" cy="1116633"/>
          </a:xfrm>
        </p:spPr>
        <p:txBody>
          <a:bodyPr>
            <a:noAutofit/>
          </a:bodyPr>
          <a:lstStyle/>
          <a:p>
            <a:r>
              <a:rPr lang="en-US" dirty="0"/>
              <a:t>The + Operator (string concatenation)</a:t>
            </a:r>
            <a:endParaRPr lang="en-US" sz="2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AE806BA-7C37-B76A-5C2F-F877D1391ABC}"/>
              </a:ext>
            </a:extLst>
          </p:cNvPr>
          <p:cNvSpPr txBox="1">
            <a:spLocks/>
          </p:cNvSpPr>
          <p:nvPr/>
        </p:nvSpPr>
        <p:spPr>
          <a:xfrm>
            <a:off x="1070115" y="1629879"/>
            <a:ext cx="10058400" cy="13916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dirty="0"/>
              <a:t>if you want to join a string and a non-string (e.g., a number), use the </a:t>
            </a:r>
            <a:r>
              <a:rPr lang="en-US" sz="2800" b="1" dirty="0"/>
              <a:t>str()</a:t>
            </a:r>
            <a:r>
              <a:rPr lang="en-US" sz="2800" dirty="0"/>
              <a:t> function to convert the non-string to a string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CBE7C24-6348-E32B-7B2B-253D5137F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312" y="3275937"/>
            <a:ext cx="9478617" cy="2111071"/>
          </a:xfrm>
        </p:spPr>
        <p:txBody>
          <a:bodyPr>
            <a:noAutofit/>
          </a:bodyPr>
          <a:lstStyle/>
          <a:p>
            <a:pPr marL="0" lvl="7" indent="0">
              <a:buNone/>
            </a:pPr>
            <a:r>
              <a:rPr lang="en-CA" sz="3200" dirty="0">
                <a:latin typeface="Courier" pitchFamily="2" charset="0"/>
              </a:rPr>
              <a:t>num = input('Enter a number: ')</a:t>
            </a:r>
          </a:p>
          <a:p>
            <a:pPr marL="0" lvl="7" indent="0">
              <a:buNone/>
            </a:pPr>
            <a:r>
              <a:rPr lang="en-CA" sz="3200" dirty="0">
                <a:latin typeface="Courier" pitchFamily="2" charset="0"/>
              </a:rPr>
              <a:t>print('Your number is ' + str(num))</a:t>
            </a:r>
            <a:endParaRPr lang="en-US" sz="3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687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0AB93-35EC-274A-8600-D6A7F087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would the following code print?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C9C2B-71F4-134C-A4C2-AA2B8A69C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7280" lvl="4" indent="0">
              <a:buNone/>
            </a:pPr>
            <a:r>
              <a:rPr lang="en-CA" sz="2800" dirty="0">
                <a:latin typeface="Courier" pitchFamily="2" charset="0"/>
              </a:rPr>
              <a:t>Fiji = 5 </a:t>
            </a:r>
          </a:p>
          <a:p>
            <a:pPr marL="1097280" lvl="4" indent="0">
              <a:buNone/>
            </a:pPr>
            <a:r>
              <a:rPr lang="en-CA" sz="2800">
                <a:latin typeface="Courier" pitchFamily="2" charset="0"/>
              </a:rPr>
              <a:t>print('Fiji</a:t>
            </a:r>
            <a:r>
              <a:rPr lang="en-CA" sz="2800" dirty="0">
                <a:latin typeface="Courier" pitchFamily="2" charset="0"/>
              </a:rPr>
              <a:t>' + ' is ' + str(Fiji))</a:t>
            </a:r>
          </a:p>
          <a:p>
            <a:pPr marL="1097280" lvl="4" indent="0">
              <a:buNone/>
            </a:pPr>
            <a:endParaRPr lang="en-CA" sz="2800" dirty="0">
              <a:latin typeface="Courier" pitchFamily="2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en-CA" sz="3200" dirty="0">
                <a:latin typeface="Courier" pitchFamily="2" charset="0"/>
              </a:rPr>
              <a:t>Fiji is Fiji</a:t>
            </a:r>
          </a:p>
          <a:p>
            <a:pPr marL="514350" indent="-514350">
              <a:buFont typeface="+mj-lt"/>
              <a:buAutoNum type="alphaUcPeriod"/>
            </a:pPr>
            <a:r>
              <a:rPr lang="en-CA" sz="3200" dirty="0">
                <a:latin typeface="Courier" pitchFamily="2" charset="0"/>
              </a:rPr>
              <a:t>Fiji is 5</a:t>
            </a:r>
          </a:p>
          <a:p>
            <a:pPr marL="514350" indent="-514350">
              <a:buFont typeface="+mj-lt"/>
              <a:buAutoNum type="alphaUcPeriod"/>
            </a:pPr>
            <a:r>
              <a:rPr lang="en-CA" sz="3200" dirty="0">
                <a:latin typeface="Courier" pitchFamily="2" charset="0"/>
              </a:rPr>
              <a:t>5 is Fiji</a:t>
            </a:r>
          </a:p>
          <a:p>
            <a:pPr marL="514350" indent="-514350">
              <a:buFont typeface="+mj-lt"/>
              <a:buAutoNum type="alphaUcPeriod"/>
            </a:pPr>
            <a:r>
              <a:rPr lang="en-CA" sz="3200" dirty="0">
                <a:latin typeface="Courier" pitchFamily="2" charset="0"/>
              </a:rPr>
              <a:t>31</a:t>
            </a:r>
            <a:endParaRPr lang="en-US" sz="3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738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AEE70-7CC5-A545-9B9F-FD57785A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CA" dirty="0"/>
              <a:t>If you type this into the shell, what is the output?</a:t>
            </a:r>
            <a:br>
              <a:rPr lang="en-CA" dirty="0"/>
            </a:br>
            <a:r>
              <a:rPr lang="en-CA" dirty="0"/>
              <a:t> </a:t>
            </a:r>
            <a:r>
              <a:rPr lang="en-CA" dirty="0">
                <a:latin typeface="Courier" pitchFamily="2" charset="0"/>
              </a:rPr>
              <a:t>'hello'+1+2+3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8C735-F80A-1D46-ADD1-BE1BEB5E0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lphaUcPeriod"/>
            </a:pPr>
            <a:r>
              <a:rPr lang="en-CA" sz="3200" dirty="0"/>
              <a:t> </a:t>
            </a:r>
            <a:r>
              <a:rPr lang="en-CA" sz="3200" dirty="0">
                <a:latin typeface="Courier" pitchFamily="2" charset="0"/>
              </a:rPr>
              <a:t>hello123</a:t>
            </a:r>
          </a:p>
          <a:p>
            <a:pPr marL="342900" indent="-342900">
              <a:buFont typeface="+mj-lt"/>
              <a:buAutoNum type="alphaUcPeriod"/>
            </a:pPr>
            <a:r>
              <a:rPr lang="en-CA" sz="3200" dirty="0"/>
              <a:t> </a:t>
            </a:r>
            <a:r>
              <a:rPr lang="en-CA" sz="3200" dirty="0">
                <a:latin typeface="Courier" pitchFamily="2" charset="0"/>
              </a:rPr>
              <a:t>hello</a:t>
            </a:r>
          </a:p>
          <a:p>
            <a:pPr marL="342900" indent="-342900">
              <a:buFont typeface="+mj-lt"/>
              <a:buAutoNum type="alphaUcPeriod"/>
            </a:pPr>
            <a:r>
              <a:rPr lang="en-CA" sz="3200" dirty="0"/>
              <a:t> </a:t>
            </a:r>
            <a:r>
              <a:rPr lang="en-CA" sz="3200" dirty="0">
                <a:latin typeface="Courier" pitchFamily="2" charset="0"/>
              </a:rPr>
              <a:t>TypeError</a:t>
            </a:r>
          </a:p>
          <a:p>
            <a:pPr marL="342900" indent="-342900">
              <a:buFont typeface="+mj-lt"/>
              <a:buAutoNum type="alphaUcPeriod"/>
            </a:pPr>
            <a:r>
              <a:rPr lang="en-CA" sz="3200" dirty="0"/>
              <a:t> </a:t>
            </a:r>
            <a:r>
              <a:rPr lang="en-CA" sz="3200" dirty="0">
                <a:latin typeface="Courier" pitchFamily="2" charset="0"/>
              </a:rPr>
              <a:t>hello6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32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4947-A652-4C41-A3B8-07643584B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3"/>
            <a:ext cx="10058400" cy="1116633"/>
          </a:xfrm>
        </p:spPr>
        <p:txBody>
          <a:bodyPr>
            <a:noAutofit/>
          </a:bodyPr>
          <a:lstStyle/>
          <a:p>
            <a:r>
              <a:rPr lang="en-US" dirty="0"/>
              <a:t>The [ ] Operator (index operator)</a:t>
            </a:r>
            <a:endParaRPr lang="en-US" sz="2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AE806BA-7C37-B76A-5C2F-F877D1391ABC}"/>
              </a:ext>
            </a:extLst>
          </p:cNvPr>
          <p:cNvSpPr txBox="1">
            <a:spLocks/>
          </p:cNvSpPr>
          <p:nvPr/>
        </p:nvSpPr>
        <p:spPr>
          <a:xfrm>
            <a:off x="1070115" y="1629879"/>
            <a:ext cx="10058400" cy="13916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dirty="0"/>
              <a:t>to get the character at a specific position in a string, put the position in square brackets after the variable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note that a character is just string whose length is 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CBE7C24-6348-E32B-7B2B-253D5137F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312" y="3275937"/>
            <a:ext cx="9478617" cy="2111071"/>
          </a:xfrm>
        </p:spPr>
        <p:txBody>
          <a:bodyPr>
            <a:noAutofit/>
          </a:bodyPr>
          <a:lstStyle/>
          <a:p>
            <a:pPr marL="0" lvl="7" indent="0">
              <a:buNone/>
            </a:pPr>
            <a:r>
              <a:rPr lang="en-CA" sz="3200" dirty="0">
                <a:latin typeface="Courier" pitchFamily="2" charset="0"/>
              </a:rPr>
              <a:t>name = 'Queen Elizabeth’</a:t>
            </a:r>
          </a:p>
          <a:p>
            <a:pPr marL="0" lvl="7" indent="0">
              <a:buNone/>
            </a:pPr>
            <a:r>
              <a:rPr lang="en-CA" sz="3200" dirty="0">
                <a:latin typeface="Courier" pitchFamily="2" charset="0"/>
              </a:rPr>
              <a:t>initials = name[0] + name[???]</a:t>
            </a:r>
            <a:endParaRPr lang="en-US" sz="3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197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31C5B-83C0-BC43-A873-B806B7D4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be printed when the following executes?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9564C-0AB5-2B4B-A791-B167FB36D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017120" lvl="7" indent="0">
              <a:buNone/>
            </a:pPr>
            <a:r>
              <a:rPr lang="en-CA" sz="3200" dirty="0" err="1">
                <a:latin typeface="Courier" pitchFamily="2" charset="0"/>
              </a:rPr>
              <a:t>stringFun</a:t>
            </a:r>
            <a:r>
              <a:rPr lang="en-CA" sz="3200" dirty="0">
                <a:latin typeface="Courier" pitchFamily="2" charset="0"/>
              </a:rPr>
              <a:t> = 'This is great!' </a:t>
            </a:r>
          </a:p>
          <a:p>
            <a:pPr marL="2017120" lvl="7" indent="0">
              <a:buNone/>
            </a:pPr>
            <a:r>
              <a:rPr lang="en-CA" sz="3200" dirty="0" err="1">
                <a:latin typeface="Courier" pitchFamily="2" charset="0"/>
              </a:rPr>
              <a:t>stringFun</a:t>
            </a:r>
            <a:r>
              <a:rPr lang="en-CA" sz="3200" dirty="0">
                <a:latin typeface="Courier" pitchFamily="2" charset="0"/>
              </a:rPr>
              <a:t> = </a:t>
            </a:r>
            <a:r>
              <a:rPr lang="en-CA" sz="3200" dirty="0" err="1">
                <a:latin typeface="Courier" pitchFamily="2" charset="0"/>
              </a:rPr>
              <a:t>stringFun</a:t>
            </a:r>
            <a:r>
              <a:rPr lang="en-CA" sz="3200" dirty="0">
                <a:latin typeface="Courier" pitchFamily="2" charset="0"/>
              </a:rPr>
              <a:t>[5]</a:t>
            </a:r>
          </a:p>
          <a:p>
            <a:pPr marL="2017120" lvl="7" indent="0">
              <a:buNone/>
            </a:pPr>
            <a:r>
              <a:rPr lang="en-CA" sz="3200" dirty="0">
                <a:latin typeface="Courier" pitchFamily="2" charset="0"/>
              </a:rPr>
              <a:t>print(</a:t>
            </a:r>
            <a:r>
              <a:rPr lang="en-CA" sz="3200" dirty="0" err="1">
                <a:latin typeface="Courier" pitchFamily="2" charset="0"/>
              </a:rPr>
              <a:t>stringFun</a:t>
            </a:r>
            <a:r>
              <a:rPr lang="en-CA" sz="3200" dirty="0">
                <a:latin typeface="Courier" pitchFamily="2" charset="0"/>
              </a:rPr>
              <a:t>)</a:t>
            </a:r>
          </a:p>
          <a:p>
            <a:pPr marL="274320" lvl="1" indent="0">
              <a:buNone/>
            </a:pPr>
            <a:endParaRPr lang="en-CA" sz="3400" dirty="0">
              <a:latin typeface="Courier" pitchFamily="2" charset="0"/>
            </a:endParaRPr>
          </a:p>
          <a:p>
            <a:pPr marL="788670" lvl="1" indent="-514350">
              <a:buFont typeface="+mj-lt"/>
              <a:buAutoNum type="alphaUcPeriod"/>
            </a:pPr>
            <a:r>
              <a:rPr lang="en-CA" sz="3400" dirty="0">
                <a:latin typeface="Courier" pitchFamily="2" charset="0"/>
              </a:rPr>
              <a:t>i</a:t>
            </a:r>
          </a:p>
          <a:p>
            <a:pPr marL="788670" lvl="1" indent="-514350">
              <a:buFont typeface="+mj-lt"/>
              <a:buAutoNum type="alphaUcPeriod"/>
            </a:pPr>
            <a:r>
              <a:rPr lang="en-CA" sz="3400" dirty="0">
                <a:latin typeface="Courier" pitchFamily="2" charset="0"/>
              </a:rPr>
              <a:t>''</a:t>
            </a:r>
          </a:p>
          <a:p>
            <a:pPr marL="788670" lvl="1" indent="-514350">
              <a:buFont typeface="+mj-lt"/>
              <a:buAutoNum type="alphaUcPeriod"/>
            </a:pPr>
            <a:r>
              <a:rPr lang="en-CA" sz="3400" dirty="0">
                <a:latin typeface="Courier" pitchFamily="2" charset="0"/>
              </a:rPr>
              <a:t>is </a:t>
            </a:r>
            <a:r>
              <a:rPr lang="en-CA" sz="3400" dirty="0" err="1">
                <a:latin typeface="Courier" pitchFamily="2" charset="0"/>
              </a:rPr>
              <a:t>gre</a:t>
            </a:r>
            <a:endParaRPr lang="en-CA" sz="3400" dirty="0">
              <a:latin typeface="Courier" pitchFamily="2" charset="0"/>
            </a:endParaRPr>
          </a:p>
          <a:p>
            <a:pPr marL="788670" lvl="1" indent="-514350">
              <a:buFont typeface="+mj-lt"/>
              <a:buAutoNum type="alphaUcPeriod"/>
            </a:pPr>
            <a:r>
              <a:rPr lang="en-CA" sz="3400" dirty="0">
                <a:latin typeface="Courier" pitchFamily="2" charset="0"/>
              </a:rPr>
              <a:t>This is great!</a:t>
            </a:r>
          </a:p>
          <a:p>
            <a:pPr marL="274320" lvl="1" indent="0">
              <a:buNone/>
            </a:pPr>
            <a:endParaRPr lang="en-US" sz="3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814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D4947-A652-4C41-A3B8-07643584B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3"/>
            <a:ext cx="10058400" cy="1116633"/>
          </a:xfrm>
        </p:spPr>
        <p:txBody>
          <a:bodyPr>
            <a:noAutofit/>
          </a:bodyPr>
          <a:lstStyle/>
          <a:p>
            <a:r>
              <a:rPr lang="en-US" dirty="0"/>
              <a:t>Introduction to Strings (</a:t>
            </a:r>
            <a:r>
              <a:rPr lang="en-US" i="1" dirty="0"/>
              <a:t>as a data type</a:t>
            </a:r>
            <a:r>
              <a:rPr lang="en-US" dirty="0"/>
              <a:t>)</a:t>
            </a:r>
            <a:endParaRPr lang="en-US" sz="28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AE806BA-7C37-B76A-5C2F-F877D1391ABC}"/>
              </a:ext>
            </a:extLst>
          </p:cNvPr>
          <p:cNvSpPr txBox="1">
            <a:spLocks/>
          </p:cNvSpPr>
          <p:nvPr/>
        </p:nvSpPr>
        <p:spPr>
          <a:xfrm>
            <a:off x="1070115" y="1629879"/>
            <a:ext cx="10058400" cy="197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marL="457200" indent="-457200">
              <a:buFontTx/>
              <a:buChar char="-"/>
            </a:pPr>
            <a:r>
              <a:rPr lang="en-US" sz="2800" dirty="0"/>
              <a:t>you can also use </a:t>
            </a:r>
            <a:r>
              <a:rPr lang="en-US" sz="2800" i="1" dirty="0"/>
              <a:t>negative</a:t>
            </a:r>
            <a:r>
              <a:rPr lang="en-US" sz="2800" dirty="0"/>
              <a:t> position numbers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these start from the end of the string (at -1) and work backwards</a:t>
            </a:r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8DB7C52F-111F-40D0-A2BC-C16DC34EF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250" y="3588024"/>
            <a:ext cx="9649650" cy="212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92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2DED-D585-A64A-A5FF-8DC89B71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printed by the following statements?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13FC2-6281-A44B-BCF6-B2C2642B1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568152" cy="384962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1097280" lvl="4" indent="0">
              <a:buNone/>
            </a:pPr>
            <a:r>
              <a:rPr lang="en-CA" sz="2800" dirty="0">
                <a:latin typeface="Courier" pitchFamily="2" charset="0"/>
              </a:rPr>
              <a:t>cool = 'Python is awesome' </a:t>
            </a:r>
          </a:p>
          <a:p>
            <a:pPr marL="1097280" lvl="4" indent="0">
              <a:buNone/>
            </a:pPr>
            <a:r>
              <a:rPr lang="en-CA" sz="2800" dirty="0">
                <a:latin typeface="Courier" pitchFamily="2" charset="0"/>
              </a:rPr>
              <a:t>print(cool[2] + cool[-5])</a:t>
            </a:r>
          </a:p>
          <a:p>
            <a:pPr marL="2317115" lvl="8" indent="0">
              <a:buNone/>
            </a:pPr>
            <a:endParaRPr lang="en-CA" sz="2800" dirty="0">
              <a:latin typeface="Courier" pitchFamily="2" charset="0"/>
            </a:endParaRPr>
          </a:p>
          <a:p>
            <a:pPr marL="788670" lvl="1" indent="-514350">
              <a:buFont typeface="+mj-lt"/>
              <a:buAutoNum type="alphaUcPeriod"/>
            </a:pPr>
            <a:r>
              <a:rPr lang="en-CA" sz="3000" dirty="0" err="1">
                <a:latin typeface="Courier" pitchFamily="2" charset="0"/>
              </a:rPr>
              <a:t>te</a:t>
            </a:r>
            <a:endParaRPr lang="en-CA" sz="3000" dirty="0">
              <a:latin typeface="Courier" pitchFamily="2" charset="0"/>
            </a:endParaRPr>
          </a:p>
          <a:p>
            <a:pPr marL="788670" lvl="1" indent="-514350">
              <a:buFont typeface="+mj-lt"/>
              <a:buAutoNum type="alphaUcPeriod"/>
            </a:pPr>
            <a:r>
              <a:rPr lang="en-CA" sz="3000" dirty="0" err="1">
                <a:latin typeface="Courier" pitchFamily="2" charset="0"/>
              </a:rPr>
              <a:t>tw</a:t>
            </a:r>
            <a:endParaRPr lang="en-CA" sz="3000" dirty="0">
              <a:latin typeface="Courier" pitchFamily="2" charset="0"/>
            </a:endParaRPr>
          </a:p>
          <a:p>
            <a:pPr marL="788670" lvl="1" indent="-514350">
              <a:buFont typeface="+mj-lt"/>
              <a:buAutoNum type="alphaUcPeriod"/>
            </a:pPr>
            <a:r>
              <a:rPr lang="en-CA" sz="3000" dirty="0">
                <a:latin typeface="Courier" pitchFamily="2" charset="0"/>
              </a:rPr>
              <a:t>o</a:t>
            </a:r>
          </a:p>
          <a:p>
            <a:pPr marL="788670" lvl="1" indent="-514350">
              <a:buFont typeface="+mj-lt"/>
              <a:buAutoNum type="alphaUcPeriod"/>
            </a:pPr>
            <a:r>
              <a:rPr lang="en-CA" sz="3000" dirty="0">
                <a:latin typeface="Courier"/>
              </a:rPr>
              <a:t>Error, you cannot use the [ ] operator with the + operator.</a:t>
            </a:r>
            <a:endParaRPr lang="en-US" sz="3000" dirty="0"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74641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7B7CD-7324-DF48-B766-BD3569E0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7CA4C-BABB-324A-80DE-91A8CE754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CA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F0049A-F608-B940-A6D8-D7C6C76C09A8}"/>
              </a:ext>
            </a:extLst>
          </p:cNvPr>
          <p:cNvSpPr txBox="1"/>
          <p:nvPr/>
        </p:nvSpPr>
        <p:spPr>
          <a:xfrm>
            <a:off x="3607818" y="2014194"/>
            <a:ext cx="54250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a_string</a:t>
            </a:r>
            <a:r>
              <a:rPr lang="en-US" sz="3200" dirty="0"/>
              <a:t> = 'this is a short string'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CBE40-EAB9-AB46-8E98-1C5F218499B8}"/>
              </a:ext>
            </a:extLst>
          </p:cNvPr>
          <p:cNvSpPr txBox="1"/>
          <p:nvPr/>
        </p:nvSpPr>
        <p:spPr>
          <a:xfrm>
            <a:off x="3607818" y="3093406"/>
            <a:ext cx="47005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a_string</a:t>
            </a:r>
            <a:r>
              <a:rPr lang="en-US" sz="3200" dirty="0"/>
              <a:t>[5:13] evaluates to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E48D44-9960-9F4B-9E9A-DB1241C7560C}"/>
              </a:ext>
            </a:extLst>
          </p:cNvPr>
          <p:cNvSpPr txBox="1"/>
          <p:nvPr/>
        </p:nvSpPr>
        <p:spPr>
          <a:xfrm>
            <a:off x="8193742" y="3093406"/>
            <a:ext cx="1579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'is a </a:t>
            </a:r>
            <a:r>
              <a:rPr lang="en-US" sz="3200" dirty="0" err="1"/>
              <a:t>sho</a:t>
            </a:r>
            <a:r>
              <a:rPr lang="en-US" sz="3200" dirty="0"/>
              <a:t>'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3F096-5DC2-3244-9BF5-54647DDA6BA8}"/>
              </a:ext>
            </a:extLst>
          </p:cNvPr>
          <p:cNvSpPr txBox="1"/>
          <p:nvPr/>
        </p:nvSpPr>
        <p:spPr>
          <a:xfrm>
            <a:off x="3518049" y="4357480"/>
            <a:ext cx="848180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a_string</a:t>
            </a:r>
            <a:r>
              <a:rPr lang="en-US" sz="3200" dirty="0"/>
              <a:t>[1:13:2]  is ‘</a:t>
            </a:r>
            <a:r>
              <a:rPr lang="en-US" sz="3200" dirty="0" err="1"/>
              <a:t>hsi</a:t>
            </a:r>
            <a:r>
              <a:rPr lang="en-US" sz="3200" dirty="0"/>
              <a:t>  h'  (note that there are</a:t>
            </a:r>
          </a:p>
          <a:p>
            <a:r>
              <a:rPr lang="en-US" sz="3200" dirty="0"/>
              <a:t>                                      two spaces after the </a:t>
            </a:r>
            <a:r>
              <a:rPr lang="en-US" sz="3200" dirty="0" err="1"/>
              <a:t>i</a:t>
            </a:r>
            <a:r>
              <a:rPr lang="en-US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8148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7B7CD-7324-DF48-B766-BD3569E0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“math” of strings (in Python)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7CA4C-BABB-324A-80DE-91A8CE754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We saw that we could use + to represent concatenation of two strings, which joining them by linking them from end to end</a:t>
            </a:r>
          </a:p>
          <a:p>
            <a:r>
              <a:rPr lang="en-US" sz="2200" dirty="0"/>
              <a:t>But what about other operations like – or /  or * ?</a:t>
            </a:r>
          </a:p>
          <a:p>
            <a:pPr lvl="1"/>
            <a:r>
              <a:rPr lang="en-US" sz="2200" dirty="0"/>
              <a:t>Try typing in something like </a:t>
            </a:r>
            <a:r>
              <a:rPr lang="en-CA" sz="2200" dirty="0">
                <a:latin typeface="Courier" pitchFamily="2" charset="0"/>
              </a:rPr>
              <a:t>'</a:t>
            </a:r>
            <a:r>
              <a:rPr lang="en-US" sz="2200" dirty="0"/>
              <a:t>Python</a:t>
            </a:r>
            <a:r>
              <a:rPr lang="en-CA" sz="2200" dirty="0">
                <a:latin typeface="Courier" pitchFamily="2" charset="0"/>
              </a:rPr>
              <a:t>'</a:t>
            </a:r>
            <a:r>
              <a:rPr lang="en-US" sz="2200" dirty="0"/>
              <a:t> – </a:t>
            </a:r>
            <a:r>
              <a:rPr lang="en-CA" sz="2200" dirty="0">
                <a:latin typeface="Courier" pitchFamily="2" charset="0"/>
              </a:rPr>
              <a:t>'</a:t>
            </a:r>
            <a:r>
              <a:rPr lang="en-US" sz="2200" dirty="0"/>
              <a:t>Scratch</a:t>
            </a:r>
            <a:r>
              <a:rPr lang="en-CA" sz="2200" dirty="0">
                <a:latin typeface="Courier" pitchFamily="2" charset="0"/>
              </a:rPr>
              <a:t>'</a:t>
            </a:r>
            <a:r>
              <a:rPr lang="en-US" sz="2200" dirty="0"/>
              <a:t> into the IDLE shell. What is the answer?</a:t>
            </a:r>
          </a:p>
          <a:p>
            <a:pPr lvl="1"/>
            <a:r>
              <a:rPr lang="en-US" sz="2200" dirty="0"/>
              <a:t>Try typing </a:t>
            </a:r>
            <a:r>
              <a:rPr lang="en-CA" sz="2200" dirty="0">
                <a:latin typeface="Courier" pitchFamily="2" charset="0"/>
              </a:rPr>
              <a:t>'</a:t>
            </a:r>
            <a:r>
              <a:rPr lang="en-US" sz="2200" dirty="0"/>
              <a:t>Python</a:t>
            </a:r>
            <a:r>
              <a:rPr lang="en-CA" sz="2200" dirty="0">
                <a:latin typeface="Courier" pitchFamily="2" charset="0"/>
              </a:rPr>
              <a:t>'</a:t>
            </a:r>
            <a:r>
              <a:rPr lang="en-US" sz="2200" dirty="0"/>
              <a:t> / </a:t>
            </a:r>
            <a:r>
              <a:rPr lang="en-CA" sz="2200" dirty="0">
                <a:latin typeface="Courier" pitchFamily="2" charset="0"/>
              </a:rPr>
              <a:t>'</a:t>
            </a:r>
            <a:r>
              <a:rPr lang="en-US" sz="2200" dirty="0"/>
              <a:t>Scratch</a:t>
            </a:r>
            <a:r>
              <a:rPr lang="en-CA" sz="2200" dirty="0">
                <a:latin typeface="Courier" pitchFamily="2" charset="0"/>
              </a:rPr>
              <a:t>'</a:t>
            </a:r>
            <a:r>
              <a:rPr lang="en-US" sz="2200" dirty="0"/>
              <a:t>. What is this answer?</a:t>
            </a:r>
          </a:p>
          <a:p>
            <a:pPr lvl="1"/>
            <a:r>
              <a:rPr lang="en-US" sz="2200" dirty="0"/>
              <a:t>Try typing </a:t>
            </a:r>
            <a:r>
              <a:rPr lang="en-CA" sz="2200" dirty="0">
                <a:latin typeface="Courier" pitchFamily="2" charset="0"/>
              </a:rPr>
              <a:t>'</a:t>
            </a:r>
            <a:r>
              <a:rPr lang="en-US" sz="2200" dirty="0"/>
              <a:t>Python</a:t>
            </a:r>
            <a:r>
              <a:rPr lang="en-CA" sz="2200" dirty="0">
                <a:latin typeface="Courier" pitchFamily="2" charset="0"/>
              </a:rPr>
              <a:t>'</a:t>
            </a:r>
            <a:r>
              <a:rPr lang="en-US" sz="2200" dirty="0"/>
              <a:t> * </a:t>
            </a:r>
            <a:r>
              <a:rPr lang="en-CA" sz="2200" dirty="0">
                <a:latin typeface="Courier" pitchFamily="2" charset="0"/>
              </a:rPr>
              <a:t>'</a:t>
            </a:r>
            <a:r>
              <a:rPr lang="en-US" sz="2200" dirty="0"/>
              <a:t>Scratch</a:t>
            </a:r>
            <a:r>
              <a:rPr lang="en-CA" sz="2200" dirty="0">
                <a:latin typeface="Courier" pitchFamily="2" charset="0"/>
              </a:rPr>
              <a:t>'</a:t>
            </a:r>
            <a:r>
              <a:rPr lang="en-US" sz="2200" dirty="0"/>
              <a:t>. What is the answer?</a:t>
            </a:r>
          </a:p>
          <a:p>
            <a:endParaRPr lang="en-CA" dirty="0"/>
          </a:p>
          <a:p>
            <a:r>
              <a:rPr lang="en-CA" sz="2200" dirty="0"/>
              <a:t>The * operator also works on strings; it performs repetition. For example, 'Spam'*3 is '</a:t>
            </a:r>
            <a:r>
              <a:rPr lang="en-CA" sz="2200" dirty="0" err="1"/>
              <a:t>SpamSpamSpam</a:t>
            </a:r>
            <a:r>
              <a:rPr lang="en-CA" sz="2200" dirty="0"/>
              <a:t>'. If one of the values is a string, the other has to be an integer.</a:t>
            </a:r>
            <a:br>
              <a:rPr lang="en-CA" sz="22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717325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AnalogousFromRegularSeed_2SEEDS">
      <a:dk1>
        <a:srgbClr val="000000"/>
      </a:dk1>
      <a:lt1>
        <a:srgbClr val="FFFFFF"/>
      </a:lt1>
      <a:dk2>
        <a:srgbClr val="32271C"/>
      </a:dk2>
      <a:lt2>
        <a:srgbClr val="F0F2F3"/>
      </a:lt2>
      <a:accent1>
        <a:srgbClr val="D57517"/>
      </a:accent1>
      <a:accent2>
        <a:srgbClr val="E73829"/>
      </a:accent2>
      <a:accent3>
        <a:srgbClr val="B1A51F"/>
      </a:accent3>
      <a:accent4>
        <a:srgbClr val="14B4A5"/>
      </a:accent4>
      <a:accent5>
        <a:srgbClr val="29AAE7"/>
      </a:accent5>
      <a:accent6>
        <a:srgbClr val="1C4CD6"/>
      </a:accent6>
      <a:hlink>
        <a:srgbClr val="3F7FBF"/>
      </a:hlink>
      <a:folHlink>
        <a:srgbClr val="7F7F7F"/>
      </a:folHlink>
    </a:clrScheme>
    <a:fontScheme name="Savon">
      <a:majorFont>
        <a:latin typeface="Century Gothic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673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SavonVTI</vt:lpstr>
      <vt:lpstr>Strings</vt:lpstr>
      <vt:lpstr>Introduction to Strings (as a data type)  - a string is a sequence of characters - the positions (or indexes) start on the left at 0 - the length is the number of characters in the string - use the len() function to get the length of a string</vt:lpstr>
      <vt:lpstr>What is printed by the following statements?</vt:lpstr>
      <vt:lpstr>The + Operator (string concatenation)</vt:lpstr>
      <vt:lpstr>The + Operator (string concatenation)</vt:lpstr>
      <vt:lpstr>What would the following code print? </vt:lpstr>
      <vt:lpstr>If you type this into the shell, what is the output?  'hello'+1+2+3 </vt:lpstr>
      <vt:lpstr>The [ ] Operator (index operator)</vt:lpstr>
      <vt:lpstr>What will be printed when the following executes?</vt:lpstr>
      <vt:lpstr>Introduction to Strings (as a data type)</vt:lpstr>
      <vt:lpstr>What is printed by the following statements?</vt:lpstr>
      <vt:lpstr>substrings</vt:lpstr>
      <vt:lpstr>The “math” of strings (in Python)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Strings</dc:title>
  <dc:creator>Laurie Ricker</dc:creator>
  <cp:lastModifiedBy>Liam Keliher</cp:lastModifiedBy>
  <cp:revision>80</cp:revision>
  <dcterms:created xsi:type="dcterms:W3CDTF">2021-10-06T14:43:12Z</dcterms:created>
  <dcterms:modified xsi:type="dcterms:W3CDTF">2023-02-09T18:38:31Z</dcterms:modified>
</cp:coreProperties>
</file>